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180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HUMANITY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LEDGER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2B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Destino dell'Umanità è nelle Tue Mani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33375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Politica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80360" y="33375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Strategy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33375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Ramificata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33375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Engine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Componenti del Team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CONCETTO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2B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 il Sovrano. La Storia è nelle Tue Mani.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" y="1097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Humanity Ledger è un videogioco 2D di simulazione politica narrativa sviluppato in Godot. Il giocatore governa una civiltà attraverso 7 ere storiche: ogni decisione plasma la trama, ridisegna le alleanze e determina il destino del proprio popolo. Il fulcro del gameplay non è cliccare risposte — ma agire fisicamente sul mondo di gioco.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2103120"/>
            <a:ext cx="2057400" cy="2697480"/>
          </a:xfrm>
          <a:prstGeom prst="rect">
            <a:avLst/>
          </a:prstGeom>
          <a:solidFill>
            <a:srgbClr val="221C12"/>
          </a:solidFill>
          <a:ln w="25400">
            <a:solidFill>
              <a:srgbClr val="B4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2103120"/>
            <a:ext cx="2057400" cy="73152"/>
          </a:xfrm>
          <a:prstGeom prst="rect">
            <a:avLst/>
          </a:prstGeom>
          <a:solidFill>
            <a:srgbClr val="B42828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194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7249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Simulazione Politica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182112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Gestisci risorse, alleanze,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conflitti e diplomazia in 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mondo storicamente ispirato.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2103120"/>
            <a:ext cx="2057400" cy="2697480"/>
          </a:xfrm>
          <a:prstGeom prst="rect">
            <a:avLst/>
          </a:prstGeom>
          <a:solidFill>
            <a:srgbClr val="221C12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2103120"/>
            <a:ext cx="20574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2194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27249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Narrazione Ramificata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182112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era ha una storia viva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evolve in tempo reale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base alle tue scelte.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2057400" cy="2697480"/>
          </a:xfrm>
          <a:prstGeom prst="rect">
            <a:avLst/>
          </a:prstGeom>
          <a:solidFill>
            <a:srgbClr val="221C12"/>
          </a:solidFill>
          <a:ln w="25400">
            <a:solidFill>
              <a:srgbClr val="287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103120"/>
            <a:ext cx="2057400" cy="73152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194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🖱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54880" y="27249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 &amp; Drop Unico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82112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click banali: trascina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per decidere il destino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tuo regno.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2103120"/>
            <a:ext cx="2057400" cy="2697480"/>
          </a:xfrm>
          <a:prstGeom prst="rect">
            <a:avLst/>
          </a:prstGeom>
          <a:solidFill>
            <a:srgbClr val="221C12"/>
          </a:solidFill>
          <a:ln w="25400">
            <a:solidFill>
              <a:srgbClr val="8C72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2103120"/>
            <a:ext cx="2057400" cy="73152"/>
          </a:xfrm>
          <a:prstGeom prst="rect">
            <a:avLst/>
          </a:prstGeom>
          <a:solidFill>
            <a:srgbClr val="8C7220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194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🕰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95160" y="27249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7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Ere Storiche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182112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3000 a.C. al futuro: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capitolo narrativo unico,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meccaniche dedicate.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4800600"/>
            <a:ext cx="8778240" cy="274320"/>
          </a:xfrm>
          <a:prstGeom prst="rect">
            <a:avLst/>
          </a:prstGeom>
          <a:solidFill>
            <a:srgbClr val="221C12"/>
          </a:solidFill>
          <a:ln w="12700">
            <a:solidFill>
              <a:srgbClr val="8C72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80060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Target: Giocatori 16+  |  Amanti di Civilization, Crusader Kings, Reigns, 80 Days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TEMA &amp; AMBIENTAZIONE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77724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Humanity Ledger esplora il peso morale del potere politico attraverso le epoche. Il giocatore non è un eroe: è un sovrano che deve bilanciare interessi contrastanti, sopravvivere alle crisi e lasciare un'eredità che risuoni nei secoli successivi.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L'ambientazione si muove tra mappe cartografiche animate in stile 2D illustrato storico: ogni era ha una palette cromatica, personaggi e scenari unici. Non esiste un percorso "giusto": la storia si riscrive ad ogni partita.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3108960"/>
            <a:ext cx="54864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090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 non lineare tra le ere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3547872"/>
            <a:ext cx="54864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529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scelte passate pesano sul futuro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3986784"/>
            <a:ext cx="54864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968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 finali narrativi possibili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4425696"/>
            <a:ext cx="54864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407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Consiglieri con agende nascoste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713232"/>
            <a:ext cx="4480560" cy="2523744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14" name="Shape 11"/>
          <p:cNvSpPr/>
          <p:nvPr/>
        </p:nvSpPr>
        <p:spPr>
          <a:xfrm>
            <a:off x="4526280" y="713232"/>
            <a:ext cx="4480560" cy="2523744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325526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Mockup: Schermata Principale di Gioco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82880" y="4526280"/>
            <a:ext cx="1143000" cy="457200"/>
          </a:xfrm>
          <a:prstGeom prst="rect">
            <a:avLst/>
          </a:prstGeom>
          <a:solidFill>
            <a:srgbClr val="B428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45262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Antica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435608" y="4526280"/>
            <a:ext cx="1143000" cy="457200"/>
          </a:xfrm>
          <a:prstGeom prst="rect">
            <a:avLst/>
          </a:prstGeom>
          <a:solidFill>
            <a:srgbClr val="6040A0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35608" y="45262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Medievale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688336" y="4526280"/>
            <a:ext cx="1143000" cy="457200"/>
          </a:xfrm>
          <a:prstGeom prst="rect">
            <a:avLst/>
          </a:prstGeom>
          <a:solidFill>
            <a:srgbClr val="3C8C5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88336" y="45262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Rinascimento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941064" y="4526280"/>
            <a:ext cx="1143000" cy="457200"/>
          </a:xfrm>
          <a:prstGeom prst="rect">
            <a:avLst/>
          </a:prstGeom>
          <a:solidFill>
            <a:srgbClr val="A0604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41064" y="45262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Coloniale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193792" y="4526280"/>
            <a:ext cx="1143000" cy="457200"/>
          </a:xfrm>
          <a:prstGeom prst="rect">
            <a:avLst/>
          </a:prstGeom>
          <a:solidFill>
            <a:srgbClr val="287A7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45262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Industriale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46520" y="4526280"/>
            <a:ext cx="1143000" cy="457200"/>
          </a:xfrm>
          <a:prstGeom prst="rect">
            <a:avLst/>
          </a:prstGeom>
          <a:solidFill>
            <a:srgbClr val="A0303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5262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Moderna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699248" y="4526280"/>
            <a:ext cx="1143000" cy="457200"/>
          </a:xfrm>
          <a:prstGeom prst="rect">
            <a:avLst/>
          </a:prstGeom>
          <a:solidFill>
            <a:srgbClr val="2080A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99248" y="452628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Futuro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MECCANICHE 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2B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Fulcro del Gameplay: Decidere con Intenzione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554480" cy="1371600"/>
          </a:xfrm>
          <a:prstGeom prst="rect">
            <a:avLst/>
          </a:prstGeom>
          <a:solidFill>
            <a:srgbClr val="221C12"/>
          </a:solidFill>
          <a:ln w="25400">
            <a:solidFill>
              <a:srgbClr val="B4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005840"/>
            <a:ext cx="457200" cy="457200"/>
          </a:xfrm>
          <a:prstGeom prst="ellipse">
            <a:avLst/>
          </a:prstGeom>
          <a:solidFill>
            <a:srgbClr val="B4282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personaggio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una sfida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1783080"/>
            <a:ext cx="228600" cy="0"/>
          </a:xfrm>
          <a:prstGeom prst="line">
            <a:avLst/>
          </a:prstGeom>
          <a:noFill/>
          <a:ln w="25400">
            <a:solidFill>
              <a:srgbClr val="8C72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097280"/>
            <a:ext cx="1554480" cy="1371600"/>
          </a:xfrm>
          <a:prstGeom prst="rect">
            <a:avLst/>
          </a:prstGeom>
          <a:solidFill>
            <a:srgbClr val="221C12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0058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5740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consiglieri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esprimono pareri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1783080"/>
            <a:ext cx="228600" cy="0"/>
          </a:xfrm>
          <a:prstGeom prst="line">
            <a:avLst/>
          </a:prstGeom>
          <a:noFill/>
          <a:ln w="25400">
            <a:solidFill>
              <a:srgbClr val="8C72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097280"/>
            <a:ext cx="1554480" cy="1371600"/>
          </a:xfrm>
          <a:prstGeom prst="rect">
            <a:avLst/>
          </a:prstGeom>
          <a:solidFill>
            <a:srgbClr val="221C12"/>
          </a:solidFill>
          <a:ln w="25400">
            <a:solidFill>
              <a:srgbClr val="287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1005840"/>
            <a:ext cx="457200" cy="457200"/>
          </a:xfrm>
          <a:prstGeom prst="ellipse">
            <a:avLst/>
          </a:prstGeom>
          <a:solidFill>
            <a:srgbClr val="287A7A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 &amp; DROP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Trascini lo sprite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corrispondente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1783080"/>
            <a:ext cx="228600" cy="0"/>
          </a:xfrm>
          <a:prstGeom prst="line">
            <a:avLst/>
          </a:prstGeom>
          <a:noFill/>
          <a:ln w="25400">
            <a:solidFill>
              <a:srgbClr val="8C72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1097280"/>
            <a:ext cx="1554480" cy="1371600"/>
          </a:xfrm>
          <a:prstGeom prst="rect">
            <a:avLst/>
          </a:prstGeom>
          <a:solidFill>
            <a:srgbClr val="221C12"/>
          </a:solidFill>
          <a:ln w="25400">
            <a:solidFill>
              <a:srgbClr val="3C8C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005840"/>
            <a:ext cx="457200" cy="457200"/>
          </a:xfrm>
          <a:prstGeom prst="ellipse">
            <a:avLst/>
          </a:prstGeom>
          <a:solidFill>
            <a:srgbClr val="3C8C50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2356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IMPATTO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e narrativa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aggiornate live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1783080"/>
            <a:ext cx="228600" cy="0"/>
          </a:xfrm>
          <a:prstGeom prst="line">
            <a:avLst/>
          </a:prstGeom>
          <a:noFill/>
          <a:ln w="25400">
            <a:solidFill>
              <a:srgbClr val="8C72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1097280"/>
            <a:ext cx="1554480" cy="1371600"/>
          </a:xfrm>
          <a:prstGeom prst="rect">
            <a:avLst/>
          </a:prstGeom>
          <a:solidFill>
            <a:srgbClr val="221C12"/>
          </a:solidFill>
          <a:ln w="25400">
            <a:solidFill>
              <a:srgbClr val="8060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9560" y="1005840"/>
            <a:ext cx="457200" cy="457200"/>
          </a:xfrm>
          <a:prstGeom prst="ellipse">
            <a:avLst/>
          </a:prstGeom>
          <a:solidFill>
            <a:srgbClr val="8060C0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0664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6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REAZIONE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mondo risponde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aprendo nuovi eventi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2743200"/>
            <a:ext cx="2011680" cy="2103120"/>
          </a:xfrm>
          <a:prstGeom prst="rect">
            <a:avLst/>
          </a:prstGeom>
          <a:solidFill>
            <a:srgbClr val="221C12"/>
          </a:solidFill>
          <a:ln w="12700">
            <a:solidFill>
              <a:srgbClr val="B4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2743200"/>
            <a:ext cx="2011680" cy="54864"/>
          </a:xfrm>
          <a:prstGeom prst="rect">
            <a:avLst/>
          </a:prstGeom>
          <a:solidFill>
            <a:srgbClr val="B42828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" y="28163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⚔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20040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MILITARE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3703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Trascina un soldato sul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 nemico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dichiarare guerra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41448" y="2743200"/>
            <a:ext cx="2011680" cy="2103120"/>
          </a:xfrm>
          <a:prstGeom prst="rect">
            <a:avLst/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41448" y="2743200"/>
            <a:ext cx="20116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1" name="Text 39"/>
          <p:cNvSpPr/>
          <p:nvPr/>
        </p:nvSpPr>
        <p:spPr>
          <a:xfrm>
            <a:off x="2441448" y="28163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2532888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32888" y="3703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Trascina monete su 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costruttore per finanziare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l'edificio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54296" y="2743200"/>
            <a:ext cx="2011680" cy="2103120"/>
          </a:xfrm>
          <a:prstGeom prst="rect">
            <a:avLst/>
          </a:prstGeom>
          <a:solidFill>
            <a:srgbClr val="221C12"/>
          </a:solidFill>
          <a:ln w="12700">
            <a:solidFill>
              <a:srgbClr val="287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54296" y="2743200"/>
            <a:ext cx="2011680" cy="5486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46" name="Text 44"/>
          <p:cNvSpPr/>
          <p:nvPr/>
        </p:nvSpPr>
        <p:spPr>
          <a:xfrm>
            <a:off x="4654296" y="28163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🕊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4745736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DIPLOMATICA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45736" y="3703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l'ambasciatore 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 per proporre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un'alleanza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67144" y="2743200"/>
            <a:ext cx="2011680" cy="2103120"/>
          </a:xfrm>
          <a:prstGeom prst="rect">
            <a:avLst/>
          </a:prstGeom>
          <a:solidFill>
            <a:srgbClr val="221C12"/>
          </a:solidFill>
          <a:ln w="12700">
            <a:solidFill>
              <a:srgbClr val="3C8C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67144" y="2743200"/>
            <a:ext cx="2011680" cy="54864"/>
          </a:xfrm>
          <a:prstGeom prst="rect">
            <a:avLst/>
          </a:prstGeom>
          <a:solidFill>
            <a:srgbClr val="3C8C50"/>
          </a:solidFill>
          <a:ln/>
        </p:spPr>
      </p:sp>
      <p:sp>
        <p:nvSpPr>
          <p:cNvPr id="51" name="Text 49"/>
          <p:cNvSpPr/>
          <p:nvPr/>
        </p:nvSpPr>
        <p:spPr>
          <a:xfrm>
            <a:off x="6867144" y="28163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6958584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8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58584" y="3703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 risorse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cittadini per gestire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crisi interna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STYLE &amp; MOCKUP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2B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Estetica: Dark Historical Illustrated — sviluppato in Godot 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3840480" cy="658368"/>
          </a:xfrm>
          <a:prstGeom prst="rect">
            <a:avLst/>
          </a:prstGeom>
          <a:solidFill>
            <a:srgbClr val="221C12"/>
          </a:solidFill>
          <a:ln w="12700">
            <a:solidFill>
              <a:srgbClr val="8C7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2435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Mappa 2D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dall'alto isometrica, stile cartografia antica animata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938528"/>
            <a:ext cx="3840480" cy="658368"/>
          </a:xfrm>
          <a:prstGeom prst="rect">
            <a:avLst/>
          </a:prstGeom>
          <a:solidFill>
            <a:srgbClr val="221C12"/>
          </a:solidFill>
          <a:ln w="12700">
            <a:solidFill>
              <a:srgbClr val="8C7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1993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Personaggi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Ritratti 2D illustrati in stile libro storico, Spine2D per animazioni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688336"/>
            <a:ext cx="3840480" cy="658368"/>
          </a:xfrm>
          <a:prstGeom prst="rect">
            <a:avLst/>
          </a:prstGeom>
          <a:solidFill>
            <a:srgbClr val="221C12"/>
          </a:solidFill>
          <a:ln w="12700">
            <a:solidFill>
              <a:srgbClr val="8C7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2743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/ HUD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990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Pergamene animate, sigilli ceralacca, inchiostro su mappa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438144"/>
            <a:ext cx="3840480" cy="658368"/>
          </a:xfrm>
          <a:prstGeom prst="rect">
            <a:avLst/>
          </a:prstGeom>
          <a:solidFill>
            <a:srgbClr val="221C12"/>
          </a:solidFill>
          <a:ln w="12700">
            <a:solidFill>
              <a:srgbClr val="8C7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3493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Visivo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7398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Particelle, effetti luce/fuoco, inchiostro che si espande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4187952"/>
            <a:ext cx="3840480" cy="658368"/>
          </a:xfrm>
          <a:prstGeom prst="rect">
            <a:avLst/>
          </a:prstGeom>
          <a:solidFill>
            <a:srgbClr val="221C12"/>
          </a:solidFill>
          <a:ln w="12700">
            <a:solidFill>
              <a:srgbClr val="8C7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7240" y="42428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489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· Pergamena · Rosso Guerra · Verde Diplomazia · Notte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0" y="11430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— Schermata Decisione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417320"/>
            <a:ext cx="4709160" cy="26517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27" name="Shape 24"/>
          <p:cNvSpPr/>
          <p:nvPr/>
        </p:nvSpPr>
        <p:spPr>
          <a:xfrm>
            <a:off x="4206240" y="1417320"/>
            <a:ext cx="4709160" cy="2651760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4754880"/>
            <a:ext cx="8778240" cy="292608"/>
          </a:xfrm>
          <a:prstGeom prst="rect">
            <a:avLst/>
          </a:prstGeom>
          <a:solidFill>
            <a:srgbClr val="221C12"/>
          </a:solidFill>
          <a:ln w="12700">
            <a:solidFill>
              <a:srgbClr val="8C722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82880" y="47548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Ispirazioni visive: Crusader Kings III  ·  Slay the Spire  ·  80 Days  ·  Reigns  ·  Heaven's Vault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DRAG &amp; DROP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2B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Scelta ha una Forma — Il Gesto Comunica l'Intenzione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011680" cy="1188720"/>
          </a:xfrm>
          <a:prstGeom prst="rect">
            <a:avLst/>
          </a:prstGeom>
          <a:solidFill>
            <a:srgbClr val="221C12"/>
          </a:solidFill>
          <a:ln w="12700">
            <a:solidFill>
              <a:srgbClr val="B4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🗡  VAI IN GUERRA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Sprite: Soldato → Territorio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Marcia militare animata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097280"/>
            <a:ext cx="2011680" cy="1188720"/>
          </a:xfrm>
          <a:prstGeom prst="rect">
            <a:avLst/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70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FINANZIA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4813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Sprite: Monete → Edificio/Cantiere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1719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Costruzione in tempo reale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423160"/>
            <a:ext cx="2011680" cy="1188720"/>
          </a:xfrm>
          <a:prstGeom prst="rect">
            <a:avLst/>
          </a:prstGeom>
          <a:solidFill>
            <a:srgbClr val="221C12"/>
          </a:solidFill>
          <a:ln w="12700">
            <a:solidFill>
              <a:srgbClr val="287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96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ALLEANZA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807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Sprite: Ambasciatore → Corte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3044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Trattativa animata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2423160"/>
            <a:ext cx="2011680" cy="1188720"/>
          </a:xfrm>
          <a:prstGeom prst="rect">
            <a:avLst/>
          </a:prstGeom>
          <a:solidFill>
            <a:srgbClr val="221C12"/>
          </a:solidFill>
          <a:ln w="12700">
            <a:solidFill>
              <a:srgbClr val="806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496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6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📜  EMANA LEGGE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807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Sprite: Editto → Piazza/Parlamento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3044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Reazione popolare animata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3749040"/>
            <a:ext cx="2011680" cy="1188720"/>
          </a:xfrm>
          <a:prstGeom prst="rect">
            <a:avLst/>
          </a:prstGeom>
          <a:solidFill>
            <a:srgbClr val="221C12"/>
          </a:solidFill>
          <a:ln w="12700">
            <a:solidFill>
              <a:srgbClr val="3C8C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8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⚗  FINANZIA SCIENZA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Sprite: Scienziato → Accademia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370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Barra progresso tech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3749040"/>
            <a:ext cx="2011680" cy="1188720"/>
          </a:xfrm>
          <a:prstGeom prst="rect">
            <a:avLst/>
          </a:prstGeom>
          <a:solidFill>
            <a:srgbClr val="221C12"/>
          </a:solidFill>
          <a:ln w="12700">
            <a:solidFill>
              <a:srgbClr val="8C7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7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🏗  MIGLIORA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Sprite: Costruttore → Edificio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4370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Miglioramento con stats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105156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— Le 7 Ere Storiche</a:t>
            </a:r>
            <a:endParaRPr lang="en-US" sz="10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25880"/>
            <a:ext cx="4434840" cy="249631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31" name="Shape 28"/>
          <p:cNvSpPr/>
          <p:nvPr/>
        </p:nvSpPr>
        <p:spPr>
          <a:xfrm>
            <a:off x="4526280" y="1325880"/>
            <a:ext cx="4434840" cy="2496312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26280" y="3913632"/>
            <a:ext cx="4434840" cy="1005840"/>
          </a:xfrm>
          <a:prstGeom prst="rect">
            <a:avLst/>
          </a:prstGeom>
          <a:solidFill>
            <a:srgbClr val="221C12"/>
          </a:solidFill>
          <a:ln w="12700">
            <a:solidFill>
              <a:srgbClr val="287A7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17720" y="397764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IMPLEMENTAZIONE GODOT 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617720" y="4251960"/>
            <a:ext cx="4251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AnimationPlayer </a:t>
            </a:r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 animazioni drag &amp; drop
</a:t>
            </a:r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Tween / AnimatedSprite2D </a:t>
            </a:r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feedback visivo live
</a:t>
            </a:r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 </a:t>
            </a:r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logica narrativa ramificata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NARRATIVO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2B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Trama si Riscrive Sotto i Tuoi Occhi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" y="107899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decisione genera conseguenze immediate e visibili. Il giocatore non aspetta il prossimo turno: vede in tempo reale come la sua scelta sta riscrivendo la storia. Questa immediatezza crea un ciclo di feedback emotivo potente che rafforza l'identità del giocatore come sovrano.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320040" cy="320040"/>
          </a:xfrm>
          <a:prstGeom prst="ellipse">
            <a:avLst/>
          </a:prstGeom>
          <a:solidFill>
            <a:srgbClr val="B4282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attivo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560320"/>
            <a:ext cx="0" cy="228600"/>
          </a:xfrm>
          <a:prstGeom prst="line">
            <a:avLst/>
          </a:prstGeom>
          <a:noFill/>
          <a:ln w="12700">
            <a:solidFill>
              <a:srgbClr val="8C72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78892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807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analisi narrativa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3108960"/>
            <a:ext cx="0" cy="228600"/>
          </a:xfrm>
          <a:prstGeom prst="line">
            <a:avLst/>
          </a:prstGeom>
          <a:noFill/>
          <a:ln w="12700">
            <a:solidFill>
              <a:srgbClr val="8C72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337560"/>
            <a:ext cx="320040" cy="320040"/>
          </a:xfrm>
          <a:prstGeom prst="ellipse">
            <a:avLst/>
          </a:prstGeom>
          <a:solidFill>
            <a:srgbClr val="3C8C5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355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 aggiornate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3657600"/>
            <a:ext cx="0" cy="228600"/>
          </a:xfrm>
          <a:prstGeom prst="line">
            <a:avLst/>
          </a:prstGeom>
          <a:noFill/>
          <a:ln w="12700">
            <a:solidFill>
              <a:srgbClr val="8C72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886200"/>
            <a:ext cx="320040" cy="320040"/>
          </a:xfrm>
          <a:prstGeom prst="ellipse">
            <a:avLst/>
          </a:prstGeom>
          <a:solidFill>
            <a:srgbClr val="287A7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904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Reazione personaggi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" y="4206240"/>
            <a:ext cx="0" cy="228600"/>
          </a:xfrm>
          <a:prstGeom prst="line">
            <a:avLst/>
          </a:prstGeom>
          <a:noFill/>
          <a:ln w="12700">
            <a:solidFill>
              <a:srgbClr val="8C72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434840"/>
            <a:ext cx="320040" cy="320040"/>
          </a:xfrm>
          <a:prstGeom prst="ellipse">
            <a:avLst/>
          </a:prstGeom>
          <a:solidFill>
            <a:srgbClr val="8060C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453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Nuova trama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10241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— Feedback Narrativo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298448"/>
            <a:ext cx="4663440" cy="2624328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27" name="Shape 24"/>
          <p:cNvSpPr/>
          <p:nvPr/>
        </p:nvSpPr>
        <p:spPr>
          <a:xfrm>
            <a:off x="4297680" y="1298448"/>
            <a:ext cx="4663440" cy="2624328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3977640"/>
            <a:ext cx="4023360" cy="310896"/>
          </a:xfrm>
          <a:prstGeom prst="rect">
            <a:avLst/>
          </a:prstGeom>
          <a:solidFill>
            <a:srgbClr val="221C12"/>
          </a:solidFill>
          <a:ln w="12700">
            <a:solidFill>
              <a:srgbClr val="B4282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0142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dichiarata → </a:t>
            </a:r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Truppe in marcia, economia militare +30%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82880" y="4361688"/>
            <a:ext cx="4023360" cy="310896"/>
          </a:xfrm>
          <a:prstGeom prst="rect">
            <a:avLst/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3982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Istruzione finanziata → </a:t>
            </a:r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Accademie sulla mappa, consenso +18%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82880" y="4745736"/>
            <a:ext cx="4023360" cy="310896"/>
          </a:xfrm>
          <a:prstGeom prst="rect">
            <a:avLst/>
          </a:prstGeom>
          <a:solidFill>
            <a:srgbClr val="221C12"/>
          </a:solidFill>
          <a:ln w="12700">
            <a:solidFill>
              <a:srgbClr val="287A7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7823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Trattato firmato → </a:t>
            </a:r>
            <a:pPr indent="0" marL="0">
              <a:buNone/>
            </a:pPr>
            <a:r>
              <a:rPr lang="en-US" sz="9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 commerciali aperte, nuovi eventi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PERSONAGGI &amp; CONSIGLIERI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858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2B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Voci che Guidano — e Ingannano — il Tuo Regno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011680" cy="1645920"/>
          </a:xfrm>
          <a:prstGeom prst="rect">
            <a:avLst/>
          </a:prstGeom>
          <a:solidFill>
            <a:srgbClr val="221C12"/>
          </a:solidFill>
          <a:ln w="12700">
            <a:solidFill>
              <a:srgbClr val="B4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2011680" cy="54864"/>
          </a:xfrm>
          <a:prstGeom prst="rect">
            <a:avLst/>
          </a:prstGeom>
          <a:solidFill>
            <a:srgbClr val="B4282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75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Soluzioni militari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2286000"/>
            <a:ext cx="1865376" cy="347472"/>
          </a:xfrm>
          <a:prstGeom prst="rect">
            <a:avLst/>
          </a:prstGeom>
          <a:solidFill>
            <a:srgbClr val="180E06"/>
          </a:solidFill>
          <a:ln w="12700">
            <a:solidFill>
              <a:srgbClr val="B4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3134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Ha interessi nei conflitti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95728" y="1097280"/>
            <a:ext cx="2011680" cy="1645920"/>
          </a:xfrm>
          <a:prstGeom prst="rect">
            <a:avLst/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1097280"/>
            <a:ext cx="20116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2395728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87168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Tesoriere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87168" y="1975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 le finanze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2286000"/>
            <a:ext cx="1865376" cy="347472"/>
          </a:xfrm>
          <a:prstGeom prst="rect">
            <a:avLst/>
          </a:prstGeom>
          <a:solidFill>
            <a:srgbClr val="180E0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05456" y="23134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Può nascondere corruzione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08576" y="1097280"/>
            <a:ext cx="2011680" cy="1645920"/>
          </a:xfrm>
          <a:prstGeom prst="rect">
            <a:avLst/>
          </a:prstGeom>
          <a:solidFill>
            <a:srgbClr val="221C12"/>
          </a:solidFill>
          <a:ln w="12700">
            <a:solidFill>
              <a:srgbClr val="287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08576" y="1097280"/>
            <a:ext cx="2011680" cy="5486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21" name="Text 19"/>
          <p:cNvSpPr/>
          <p:nvPr/>
        </p:nvSpPr>
        <p:spPr>
          <a:xfrm>
            <a:off x="4608576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00016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Diplomatico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0016" y="1975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Preferisce accordi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2286000"/>
            <a:ext cx="1865376" cy="347472"/>
          </a:xfrm>
          <a:prstGeom prst="rect">
            <a:avLst/>
          </a:prstGeom>
          <a:solidFill>
            <a:srgbClr val="180E06"/>
          </a:solidFill>
          <a:ln w="12700">
            <a:solidFill>
              <a:srgbClr val="287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3134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Potrebbe vendere segreti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21424" y="1097280"/>
            <a:ext cx="2011680" cy="1645920"/>
          </a:xfrm>
          <a:prstGeom prst="rect">
            <a:avLst/>
          </a:prstGeom>
          <a:solidFill>
            <a:srgbClr val="221C12"/>
          </a:solidFill>
          <a:ln w="12700">
            <a:solidFill>
              <a:srgbClr val="3C8C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21424" y="1097280"/>
            <a:ext cx="2011680" cy="54864"/>
          </a:xfrm>
          <a:prstGeom prst="rect">
            <a:avLst/>
          </a:prstGeom>
          <a:solidFill>
            <a:srgbClr val="3C8C50"/>
          </a:solidFill>
          <a:ln/>
        </p:spPr>
      </p:sp>
      <p:sp>
        <p:nvSpPr>
          <p:cNvPr id="28" name="Text 26"/>
          <p:cNvSpPr/>
          <p:nvPr/>
        </p:nvSpPr>
        <p:spPr>
          <a:xfrm>
            <a:off x="6821424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🔭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912864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8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Scienziato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12864" y="1975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innovazioni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94576" y="2286000"/>
            <a:ext cx="1865376" cy="347472"/>
          </a:xfrm>
          <a:prstGeom prst="rect">
            <a:avLst/>
          </a:prstGeom>
          <a:solidFill>
            <a:srgbClr val="180E06"/>
          </a:solidFill>
          <a:ln w="12700">
            <a:solidFill>
              <a:srgbClr val="3C8C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23134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Idee rischiose ma rivoluzionarie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" y="2926080"/>
            <a:ext cx="2011680" cy="1645920"/>
          </a:xfrm>
          <a:prstGeom prst="rect">
            <a:avLst/>
          </a:prstGeom>
          <a:solidFill>
            <a:srgbClr val="221C12"/>
          </a:solidFill>
          <a:ln w="12700">
            <a:solidFill>
              <a:srgbClr val="A0A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2926080"/>
            <a:ext cx="2011680" cy="54864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7432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Giurista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38039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Custode delle leggi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4114800"/>
            <a:ext cx="1865376" cy="347472"/>
          </a:xfrm>
          <a:prstGeom prst="rect">
            <a:avLst/>
          </a:prstGeom>
          <a:solidFill>
            <a:srgbClr val="180E06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41422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Fedele al codice, non al 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95728" y="2926080"/>
            <a:ext cx="2011680" cy="1645920"/>
          </a:xfrm>
          <a:prstGeom prst="rect">
            <a:avLst/>
          </a:prstGeom>
          <a:solidFill>
            <a:srgbClr val="221C12"/>
          </a:solidFill>
          <a:ln w="12700">
            <a:solidFill>
              <a:srgbClr val="806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395728" y="2926080"/>
            <a:ext cx="2011680" cy="54864"/>
          </a:xfrm>
          <a:prstGeom prst="rect">
            <a:avLst/>
          </a:prstGeom>
          <a:solidFill>
            <a:srgbClr val="8060C0"/>
          </a:solidFill>
          <a:ln/>
        </p:spPr>
      </p:sp>
      <p:sp>
        <p:nvSpPr>
          <p:cNvPr id="42" name="Text 40"/>
          <p:cNvSpPr/>
          <p:nvPr/>
        </p:nvSpPr>
        <p:spPr>
          <a:xfrm>
            <a:off x="2395728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🗡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2487168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6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487168" y="38039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Raccoglie intelligence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68880" y="4114800"/>
            <a:ext cx="1865376" cy="347472"/>
          </a:xfrm>
          <a:prstGeom prst="rect">
            <a:avLst/>
          </a:prstGeom>
          <a:solidFill>
            <a:srgbClr val="180E06"/>
          </a:solidFill>
          <a:ln w="12700">
            <a:solidFill>
              <a:srgbClr val="8060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05456" y="41422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Le sue info sono spesso parziali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08576" y="2926080"/>
            <a:ext cx="2011680" cy="1645920"/>
          </a:xfrm>
          <a:prstGeom prst="rect">
            <a:avLst/>
          </a:prstGeom>
          <a:solidFill>
            <a:srgbClr val="221C12"/>
          </a:solidFill>
          <a:ln w="12700">
            <a:solidFill>
              <a:srgbClr val="8C72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08576" y="2926080"/>
            <a:ext cx="2011680" cy="54864"/>
          </a:xfrm>
          <a:prstGeom prst="rect">
            <a:avLst/>
          </a:prstGeom>
          <a:solidFill>
            <a:srgbClr val="8C7220"/>
          </a:solidFill>
          <a:ln/>
        </p:spPr>
      </p:sp>
      <p:sp>
        <p:nvSpPr>
          <p:cNvPr id="49" name="Text 47"/>
          <p:cNvSpPr/>
          <p:nvPr/>
        </p:nvSpPr>
        <p:spPr>
          <a:xfrm>
            <a:off x="4608576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✊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700016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7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Rivoluzionario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00016" y="38039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del popolo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81728" y="4114800"/>
            <a:ext cx="1865376" cy="347472"/>
          </a:xfrm>
          <a:prstGeom prst="rect">
            <a:avLst/>
          </a:prstGeom>
          <a:solidFill>
            <a:srgbClr val="180E06"/>
          </a:solidFill>
          <a:ln w="12700">
            <a:solidFill>
              <a:srgbClr val="8C72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18304" y="41422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Potenziale destabilizzatore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821424" y="2926080"/>
            <a:ext cx="2011680" cy="1645920"/>
          </a:xfrm>
          <a:prstGeom prst="rect">
            <a:avLst/>
          </a:prstGeom>
          <a:solidFill>
            <a:srgbClr val="221C12"/>
          </a:solidFill>
          <a:ln w="12700">
            <a:solidFill>
              <a:srgbClr val="287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21424" y="2926080"/>
            <a:ext cx="2011680" cy="5486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56" name="Text 54"/>
          <p:cNvSpPr/>
          <p:nvPr/>
        </p:nvSpPr>
        <p:spPr>
          <a:xfrm>
            <a:off x="6821424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6912864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Mastro Cost.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12864" y="38039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i progetti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94576" y="4114800"/>
            <a:ext cx="1865376" cy="347472"/>
          </a:xfrm>
          <a:prstGeom prst="rect">
            <a:avLst/>
          </a:prstGeom>
          <a:solidFill>
            <a:srgbClr val="180E06"/>
          </a:solidFill>
          <a:ln w="12700">
            <a:solidFill>
              <a:srgbClr val="287A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31152" y="414223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Tende a sottostimare i costi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DETTAGLI TECNICI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788920" cy="3977640"/>
          </a:xfrm>
          <a:prstGeom prst="rect">
            <a:avLst/>
          </a:prstGeom>
          <a:solidFill>
            <a:srgbClr val="221C12"/>
          </a:solidFill>
          <a:ln w="25400">
            <a:solidFill>
              <a:srgbClr val="287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2788920" cy="5486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ENGINE &amp; TOOLS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606040" cy="0"/>
          </a:xfrm>
          <a:prstGeom prst="line">
            <a:avLst/>
          </a:prstGeom>
          <a:noFill/>
          <a:ln w="6350">
            <a:solidFill>
              <a:srgbClr val="287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45720" cy="23774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 (GDScript)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865376"/>
            <a:ext cx="45720" cy="23774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47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Spine2D / AnimatedSprite2D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2340864"/>
            <a:ext cx="45720" cy="23774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3225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Aseprite — pixel art 2D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2816352"/>
            <a:ext cx="45720" cy="23774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980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— versioning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3291840"/>
            <a:ext cx="45720" cy="23774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73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— task management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3767328"/>
            <a:ext cx="45720" cy="237744"/>
          </a:xfrm>
          <a:prstGeom prst="rect">
            <a:avLst/>
          </a:prstGeom>
          <a:solidFill>
            <a:srgbClr val="287A7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Audacity — audio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822960"/>
            <a:ext cx="2788920" cy="3977640"/>
          </a:xfrm>
          <a:prstGeom prst="rect">
            <a:avLst/>
          </a:prstGeom>
          <a:solidFill>
            <a:srgbClr val="221C12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822960"/>
            <a:ext cx="278892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ARCHITETTURA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73552" y="1298448"/>
            <a:ext cx="2606040" cy="0"/>
          </a:xfrm>
          <a:prstGeom prst="line">
            <a:avLst/>
          </a:prstGeom>
          <a:noFill/>
          <a:ln w="6350">
            <a:solidFill>
              <a:srgbClr val="D4AF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1389888"/>
            <a:ext cx="45720" cy="2377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3410712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State Machine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1865376"/>
            <a:ext cx="45720" cy="2377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1847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SceneTree modulare per ere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340864"/>
            <a:ext cx="45720" cy="2377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3410712" y="23225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JSON decisioni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816352"/>
            <a:ext cx="45720" cy="2377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3410712" y="27980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Pattern → feedback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291840"/>
            <a:ext cx="45720" cy="2377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3410712" y="3273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(.tres) per stats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767328"/>
            <a:ext cx="45720" cy="23774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5" name="Text 33"/>
          <p:cNvSpPr/>
          <p:nvPr/>
        </p:nvSpPr>
        <p:spPr>
          <a:xfrm>
            <a:off x="3410712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 per game state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81344" y="822960"/>
            <a:ext cx="2788920" cy="3977640"/>
          </a:xfrm>
          <a:prstGeom prst="rect">
            <a:avLst/>
          </a:prstGeom>
          <a:solidFill>
            <a:srgbClr val="221C12"/>
          </a:solidFill>
          <a:ln w="25400">
            <a:solidFill>
              <a:srgbClr val="3C8C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822960"/>
            <a:ext cx="2788920" cy="54864"/>
          </a:xfrm>
          <a:prstGeom prst="rect">
            <a:avLst/>
          </a:prstGeom>
          <a:solidFill>
            <a:srgbClr val="3C8C50"/>
          </a:solidFill>
          <a:ln/>
        </p:spPr>
      </p:sp>
      <p:sp>
        <p:nvSpPr>
          <p:cNvPr id="38" name="Text 36"/>
          <p:cNvSpPr/>
          <p:nvPr/>
        </p:nvSpPr>
        <p:spPr>
          <a:xfrm>
            <a:off x="6272784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8C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TEAM &amp; PIANO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72784" y="1298448"/>
            <a:ext cx="2606040" cy="0"/>
          </a:xfrm>
          <a:prstGeom prst="line">
            <a:avLst/>
          </a:prstGeom>
          <a:noFill/>
          <a:ln w="6350">
            <a:solidFill>
              <a:srgbClr val="3C8C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91072" y="1389888"/>
            <a:ext cx="45720" cy="237744"/>
          </a:xfrm>
          <a:prstGeom prst="rect">
            <a:avLst/>
          </a:prstGeom>
          <a:solidFill>
            <a:srgbClr val="3C8C5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Designer — meccaniche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91072" y="1865376"/>
            <a:ext cx="45720" cy="237744"/>
          </a:xfrm>
          <a:prstGeom prst="rect">
            <a:avLst/>
          </a:prstGeom>
          <a:solidFill>
            <a:srgbClr val="3C8C50"/>
          </a:solidFill>
          <a:ln/>
        </p:spPr>
      </p:sp>
      <p:sp>
        <p:nvSpPr>
          <p:cNvPr id="43" name="Text 41"/>
          <p:cNvSpPr/>
          <p:nvPr/>
        </p:nvSpPr>
        <p:spPr>
          <a:xfrm>
            <a:off x="6409944" y="1847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— Godot/GDScript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91072" y="2340864"/>
            <a:ext cx="45720" cy="237744"/>
          </a:xfrm>
          <a:prstGeom prst="rect">
            <a:avLst/>
          </a:prstGeom>
          <a:solidFill>
            <a:srgbClr val="3C8C50"/>
          </a:solidFill>
          <a:ln/>
        </p:spPr>
      </p:sp>
      <p:sp>
        <p:nvSpPr>
          <p:cNvPr id="45" name="Text 43"/>
          <p:cNvSpPr/>
          <p:nvPr/>
        </p:nvSpPr>
        <p:spPr>
          <a:xfrm>
            <a:off x="6409944" y="23225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2D — illustrazioni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91072" y="2816352"/>
            <a:ext cx="45720" cy="237744"/>
          </a:xfrm>
          <a:prstGeom prst="rect">
            <a:avLst/>
          </a:prstGeom>
          <a:solidFill>
            <a:srgbClr val="3C8C50"/>
          </a:solidFill>
          <a:ln/>
        </p:spPr>
      </p:sp>
      <p:sp>
        <p:nvSpPr>
          <p:cNvPr id="47" name="Text 45"/>
          <p:cNvSpPr/>
          <p:nvPr/>
        </p:nvSpPr>
        <p:spPr>
          <a:xfrm>
            <a:off x="6409944" y="27980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Designer — trama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91072" y="3291840"/>
            <a:ext cx="45720" cy="237744"/>
          </a:xfrm>
          <a:prstGeom prst="rect">
            <a:avLst/>
          </a:prstGeom>
          <a:solidFill>
            <a:srgbClr val="3C8C50"/>
          </a:solidFill>
          <a:ln/>
        </p:spPr>
      </p:sp>
      <p:sp>
        <p:nvSpPr>
          <p:cNvPr id="49" name="Text 47"/>
          <p:cNvSpPr/>
          <p:nvPr/>
        </p:nvSpPr>
        <p:spPr>
          <a:xfrm>
            <a:off x="6409944" y="3273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settimane (Agile)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91072" y="3767328"/>
            <a:ext cx="45720" cy="237744"/>
          </a:xfrm>
          <a:prstGeom prst="rect">
            <a:avLst/>
          </a:prstGeom>
          <a:solidFill>
            <a:srgbClr val="3C8C50"/>
          </a:solidFill>
          <a:ln/>
        </p:spPr>
      </p:sp>
      <p:sp>
        <p:nvSpPr>
          <p:cNvPr id="51" name="Text 49"/>
          <p:cNvSpPr/>
          <p:nvPr/>
        </p:nvSpPr>
        <p:spPr>
          <a:xfrm>
            <a:off x="6409944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prototype → alpha → beta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HUMANITY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LEDGER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2B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Decisione ha un Peso.  ·  Ogni Scelta Riscrive la Storia.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1645920" cy="1371600"/>
          </a:xfrm>
          <a:prstGeom prst="rect">
            <a:avLst/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88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60120" y="3547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 Storiche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743200"/>
            <a:ext cx="1645920" cy="1371600"/>
          </a:xfrm>
          <a:prstGeom prst="rect">
            <a:avLst/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788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971800" y="3547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743200"/>
            <a:ext cx="1645920" cy="1371600"/>
          </a:xfrm>
          <a:prstGeom prst="rect">
            <a:avLst/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788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983480" y="3547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Consiglieri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743200"/>
            <a:ext cx="1645920" cy="1371600"/>
          </a:xfrm>
          <a:prstGeom prst="rect">
            <a:avLst/>
          </a:prstGeom>
          <a:solidFill>
            <a:srgbClr val="221C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788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995160" y="3547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2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 Unici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6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con Godot 4  ·  Team Name  ·  A.A. 2024/2025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Humanity Ledger – Pitch</dc:title>
  <dc:subject>PptxGenJS Presentation</dc:subject>
  <dc:creator>PptxGenJS</dc:creator>
  <cp:lastModifiedBy>PptxGenJS</cp:lastModifiedBy>
  <cp:revision>1</cp:revision>
  <dcterms:created xsi:type="dcterms:W3CDTF">2026-05-05T07:07:32Z</dcterms:created>
  <dcterms:modified xsi:type="dcterms:W3CDTF">2026-05-05T07:07:32Z</dcterms:modified>
</cp:coreProperties>
</file>